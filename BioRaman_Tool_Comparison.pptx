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dPt>
            <c:idx val="0"/>
            <c:spPr>
              <a:solidFill>
                <a:srgbClr val="2563A8"/>
              </a:solidFill>
            </c:spPr>
          </c:dPt>
          <c:dPt>
            <c:idx val="1"/>
            <c:spPr>
              <a:solidFill>
                <a:srgbClr val="9FB6CF"/>
              </a:solidFill>
            </c:spPr>
          </c:dPt>
          <c:dPt>
            <c:idx val="2"/>
            <c:spPr>
              <a:solidFill>
                <a:srgbClr val="9FB6CF"/>
              </a:solidFill>
            </c:spPr>
          </c:dPt>
          <c:dPt>
            <c:idx val="3"/>
            <c:spPr>
              <a:solidFill>
                <a:srgbClr val="9FB6CF"/>
              </a:solidFill>
            </c:spPr>
          </c:dPt>
          <c:dPt>
            <c:idx val="4"/>
            <c:spPr>
              <a:solidFill>
                <a:srgbClr val="9FB6CF"/>
              </a:solidFill>
            </c:spPr>
          </c:dPt>
          <c:dPt>
            <c:idx val="5"/>
            <c:spPr>
              <a:solidFill>
                <a:srgbClr val="9FB6CF"/>
              </a:solidFill>
            </c:spPr>
          </c:dPt>
          <c:dPt>
            <c:idx val="6"/>
            <c:spPr>
              <a:solidFill>
                <a:srgbClr val="9FB6CF"/>
              </a:solidFill>
            </c:spPr>
          </c:dPt>
          <c:dPt>
            <c:idx val="7"/>
            <c:spPr>
              <a:solidFill>
                <a:srgbClr val="9FB6CF"/>
              </a:solidFill>
            </c:spPr>
          </c:dPt>
          <c:dPt>
            <c:idx val="8"/>
            <c:spPr>
              <a:solidFill>
                <a:srgbClr val="9FB6CF"/>
              </a:solidFill>
            </c:spPr>
          </c:dPt>
          <c:cat>
            <c:strRef>
              <c:f>Sheet1!$A$2:$A$10</c:f>
              <c:strCache>
                <c:ptCount val="9"/>
                <c:pt idx="0">
                  <c:v>BioRaman</c:v>
                </c:pt>
                <c:pt idx="1">
                  <c:v>Vespucci</c:v>
                </c:pt>
                <c:pt idx="2">
                  <c:v>Orange + Quasar</c:v>
                </c:pt>
                <c:pt idx="3">
                  <c:v>RamanSPy</c:v>
                </c:pt>
                <c:pt idx="4">
                  <c:v>Spectragryph</c:v>
                </c:pt>
                <c:pt idx="5">
                  <c:v>hyperSpec</c:v>
                </c:pt>
                <c:pt idx="6">
                  <c:v>SpectraGuru</c:v>
                </c:pt>
                <c:pt idx="7">
                  <c:v>ramanchada2</c:v>
                </c:pt>
                <c:pt idx="8">
                  <c:v>Open Specy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12.5</c:v>
                </c:pt>
                <c:pt idx="1">
                  <c:v>8.5</c:v>
                </c:pt>
                <c:pt idx="2">
                  <c:v>7.5</c:v>
                </c:pt>
                <c:pt idx="3">
                  <c:v>7.0</c:v>
                </c:pt>
                <c:pt idx="4">
                  <c:v>7.0</c:v>
                </c:pt>
                <c:pt idx="5">
                  <c:v>7.0</c:v>
                </c:pt>
                <c:pt idx="6">
                  <c:v>6.5</c:v>
                </c:pt>
                <c:pt idx="7">
                  <c:v>6.0</c:v>
                </c:pt>
                <c:pt idx="8">
                  <c:v>4.5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1A233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A233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647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Georgia"/>
              </a:rPr>
              <a:t>BioRaman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ADCFC"/>
                </a:solidFill>
                <a:latin typeface="Calibri"/>
              </a:rPr>
              <a:t>How it compares with free Raman spectra &amp; map-analysis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ADCFC"/>
                </a:solidFill>
                <a:latin typeface="Calibri"/>
              </a:rPr>
              <a:t>Akalabya Bissoyi  ·  akalabya.bissoyi@manchester.ac.uk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32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FB6CF"/>
                </a:solidFill>
                <a:latin typeface="Calibri"/>
              </a:rPr>
              <a:t>BioRaman v0.8.0  ·  9 tools · 13 capabilities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332"/>
                </a:solidFill>
                <a:latin typeface="Georgia"/>
              </a:rPr>
              <a:t>Capability score across free Raman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5A6470"/>
                </a:solidFill>
                <a:latin typeface="Calibri"/>
              </a:rPr>
              <a:t>Full support ×1  +  partial ×0.5   (maximum 13)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554480"/>
          <a:ext cx="108813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332"/>
                </a:solidFill>
                <a:latin typeface="Georgia"/>
              </a:rPr>
              <a:t>Capability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A6470"/>
                </a:solidFill>
                <a:latin typeface="Calibri"/>
              </a:rPr>
              <a:t>✓ full   ~ partial   – none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1147570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738553"/>
                <a:gridCol w="738553"/>
                <a:gridCol w="738553"/>
                <a:gridCol w="738553"/>
                <a:gridCol w="738553"/>
                <a:gridCol w="738553"/>
                <a:gridCol w="738553"/>
                <a:gridCol w="738553"/>
                <a:gridCol w="738553"/>
                <a:gridCol w="738553"/>
                <a:gridCol w="738553"/>
                <a:gridCol w="738553"/>
                <a:gridCol w="738553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36576" marR="18288" marT="0" marB="0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GUI</a:t>
                      </a:r>
                    </a:p>
                  </a:txBody>
                  <a:tcPr marL="36576" marR="18288" marT="0" marB="0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Files</a:t>
                      </a:r>
                    </a:p>
                  </a:txBody>
                  <a:tcPr marL="36576" marR="18288" marT="0" marB="0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Prep</a:t>
                      </a:r>
                    </a:p>
                  </a:txBody>
                  <a:tcPr marL="36576" marR="18288" marT="0" marB="0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Imaging</a:t>
                      </a:r>
                    </a:p>
                  </a:txBody>
                  <a:tcPr marL="36576" marR="18288" marT="0" marB="0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Uni/ratio</a:t>
                      </a:r>
                    </a:p>
                  </a:txBody>
                  <a:tcPr marL="36576" marR="18288" marT="0" marB="0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PCA</a:t>
                      </a:r>
                    </a:p>
                  </a:txBody>
                  <a:tcPr marL="36576" marR="18288" marT="0" marB="0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Cluster</a:t>
                      </a:r>
                    </a:p>
                  </a:txBody>
                  <a:tcPr marL="36576" marR="18288" marT="0" marB="0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MCR-ALS</a:t>
                      </a:r>
                    </a:p>
                  </a:txBody>
                  <a:tcPr marL="36576" marR="18288" marT="0" marB="0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N-FINDR</a:t>
                      </a:r>
                    </a:p>
                  </a:txBody>
                  <a:tcPr marL="36576" marR="18288" marT="0" marB="0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Peak ID</a:t>
                      </a:r>
                    </a:p>
                  </a:txBody>
                  <a:tcPr marL="36576" marR="18288" marT="0" marB="0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Curve</a:t>
                      </a:r>
                    </a:p>
                  </a:txBody>
                  <a:tcPr marL="36576" marR="18288" marT="0" marB="0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3D</a:t>
                      </a:r>
                    </a:p>
                  </a:txBody>
                  <a:tcPr marL="36576" marR="18288" marT="0" marB="0" anchor="ctr">
                    <a:solidFill>
                      <a:srgbClr val="2129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Library</a:t>
                      </a:r>
                    </a:p>
                  </a:txBody>
                  <a:tcPr marL="36576" marR="18288" marT="0" marB="0" anchor="ctr"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563A8"/>
                          </a:solidFill>
                          <a:latin typeface="Calibri"/>
                        </a:rPr>
                        <a:t>BioRaman</a:t>
                      </a:r>
                    </a:p>
                    <a:p>
                      <a:r>
                        <a:rPr sz="750">
                          <a:solidFill>
                            <a:srgbClr val="5A6470"/>
                          </a:solidFill>
                          <a:latin typeface="Calibri"/>
                        </a:rPr>
                        <a:t>Desktop GUI · Python</a:t>
                      </a:r>
                    </a:p>
                  </a:txBody>
                  <a:tcPr marL="54864" marT="0" marB="0" anchor="ctr">
                    <a:solidFill>
                      <a:srgbClr val="E6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ECF7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ECF7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ECF7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ECF7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ECF7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ECF7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ECF7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ECF7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ECF7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ECF7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ECF7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ECF7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ECF7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2332"/>
                          </a:solidFill>
                          <a:latin typeface="Calibri"/>
                        </a:rPr>
                        <a:t>RamanSPy</a:t>
                      </a:r>
                    </a:p>
                    <a:p>
                      <a:r>
                        <a:rPr sz="750">
                          <a:solidFill>
                            <a:srgbClr val="5A6470"/>
                          </a:solidFill>
                          <a:latin typeface="Calibri"/>
                        </a:rPr>
                        <a:t>Python library</a:t>
                      </a:r>
                    </a:p>
                  </a:txBody>
                  <a:tcPr marL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2332"/>
                          </a:solidFill>
                          <a:latin typeface="Calibri"/>
                        </a:rPr>
                        <a:t>Orange + Quasar</a:t>
                      </a:r>
                    </a:p>
                    <a:p>
                      <a:r>
                        <a:rPr sz="750">
                          <a:solidFill>
                            <a:srgbClr val="5A6470"/>
                          </a:solidFill>
                          <a:latin typeface="Calibri"/>
                        </a:rPr>
                        <a:t>Desktop GUI · visual</a:t>
                      </a:r>
                    </a:p>
                  </a:txBody>
                  <a:tcPr marL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2332"/>
                          </a:solidFill>
                          <a:latin typeface="Calibri"/>
                        </a:rPr>
                        <a:t>Vespucci</a:t>
                      </a:r>
                    </a:p>
                    <a:p>
                      <a:r>
                        <a:rPr sz="750">
                          <a:solidFill>
                            <a:srgbClr val="5A6470"/>
                          </a:solidFill>
                          <a:latin typeface="Calibri"/>
                        </a:rPr>
                        <a:t>Desktop GUI</a:t>
                      </a:r>
                    </a:p>
                  </a:txBody>
                  <a:tcPr marL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2332"/>
                          </a:solidFill>
                          <a:latin typeface="Calibri"/>
                        </a:rPr>
                        <a:t>SpectraGuru</a:t>
                      </a:r>
                    </a:p>
                    <a:p>
                      <a:r>
                        <a:rPr sz="750">
                          <a:solidFill>
                            <a:srgbClr val="5A6470"/>
                          </a:solidFill>
                          <a:latin typeface="Calibri"/>
                        </a:rPr>
                        <a:t>Web app</a:t>
                      </a:r>
                    </a:p>
                  </a:txBody>
                  <a:tcPr marL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2332"/>
                          </a:solidFill>
                          <a:latin typeface="Calibri"/>
                        </a:rPr>
                        <a:t>Open Specy</a:t>
                      </a:r>
                    </a:p>
                    <a:p>
                      <a:r>
                        <a:rPr sz="750">
                          <a:solidFill>
                            <a:srgbClr val="5A6470"/>
                          </a:solidFill>
                          <a:latin typeface="Calibri"/>
                        </a:rPr>
                        <a:t>Web / R</a:t>
                      </a:r>
                    </a:p>
                  </a:txBody>
                  <a:tcPr marL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2332"/>
                          </a:solidFill>
                          <a:latin typeface="Calibri"/>
                        </a:rPr>
                        <a:t>Spectragryph</a:t>
                      </a:r>
                    </a:p>
                    <a:p>
                      <a:r>
                        <a:rPr sz="750">
                          <a:solidFill>
                            <a:srgbClr val="5A6470"/>
                          </a:solidFill>
                          <a:latin typeface="Calibri"/>
                        </a:rPr>
                        <a:t>Desktop · freeware</a:t>
                      </a:r>
                    </a:p>
                  </a:txBody>
                  <a:tcPr marL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2332"/>
                          </a:solidFill>
                          <a:latin typeface="Calibri"/>
                        </a:rPr>
                        <a:t>hyperSpec</a:t>
                      </a:r>
                    </a:p>
                    <a:p>
                      <a:r>
                        <a:rPr sz="750">
                          <a:solidFill>
                            <a:srgbClr val="5A6470"/>
                          </a:solidFill>
                          <a:latin typeface="Calibri"/>
                        </a:rPr>
                        <a:t>R library</a:t>
                      </a:r>
                    </a:p>
                  </a:txBody>
                  <a:tcPr marL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2332"/>
                          </a:solidFill>
                          <a:latin typeface="Calibri"/>
                        </a:rPr>
                        <a:t>ramanchada2</a:t>
                      </a:r>
                    </a:p>
                    <a:p>
                      <a:r>
                        <a:rPr sz="750">
                          <a:solidFill>
                            <a:srgbClr val="5A6470"/>
                          </a:solidFill>
                          <a:latin typeface="Calibri"/>
                        </a:rPr>
                        <a:t>Python library</a:t>
                      </a:r>
                    </a:p>
                  </a:txBody>
                  <a:tcPr marL="54864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D9E75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B4B2A9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F9F27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36576" marR="18288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Where BioRaman stands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00200"/>
            <a:ext cx="5074920" cy="2057400"/>
          </a:xfrm>
          <a:prstGeom prst="rect">
            <a:avLst/>
          </a:prstGeom>
          <a:solidFill>
            <a:srgbClr val="2B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600200"/>
            <a:ext cx="91440" cy="2057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0136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DCAA5"/>
                </a:solidFill>
                <a:latin typeface="Georgia"/>
              </a:rPr>
              <a:t>Full workflow, no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50008"/>
            <a:ext cx="4572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One of the few free GUI tools combining hyperspectral mapping with the complete chemometrics stack — PCA, clustering, MCR-ALS and N-FINDR endmember extraction.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1600200"/>
            <a:ext cx="5074920" cy="2057400"/>
          </a:xfrm>
          <a:prstGeom prst="rect">
            <a:avLst/>
          </a:prstGeom>
          <a:solidFill>
            <a:srgbClr val="2B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59" y="1600200"/>
            <a:ext cx="91440" cy="2057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180136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DCAA5"/>
                </a:solidFill>
                <a:latin typeface="Georgia"/>
              </a:rPr>
              <a:t>3D confocal rendering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2350008"/>
            <a:ext cx="4572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Volume scatter, orthogonal slices, surface and multi-band RGB views — not offered by the other free GUI tools (Vespucci, Orange/Quasar).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977639"/>
            <a:ext cx="5074920" cy="2057400"/>
          </a:xfrm>
          <a:prstGeom prst="rect">
            <a:avLst/>
          </a:prstGeom>
          <a:solidFill>
            <a:srgbClr val="2B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977639"/>
            <a:ext cx="91440" cy="2057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178807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DCAA5"/>
                </a:solidFill>
                <a:latin typeface="Georgia"/>
              </a:rPr>
              <a:t>Native instrument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727448"/>
            <a:ext cx="4572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Reads Renishaw WiRE .wdf directly, so there is no manual export step before analysis.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3977639"/>
            <a:ext cx="5074920" cy="2057400"/>
          </a:xfrm>
          <a:prstGeom prst="rect">
            <a:avLst/>
          </a:prstGeom>
          <a:solidFill>
            <a:srgbClr val="2B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59" y="3977639"/>
            <a:ext cx="91440" cy="20574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79" y="4178807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5DCAA5"/>
                </a:solidFill>
                <a:latin typeface="Georgia"/>
              </a:rPr>
              <a:t>Where rivals 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4727448"/>
            <a:ext cx="4572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CADCFC"/>
                </a:solidFill>
                <a:latin typeface="Calibri"/>
              </a:rPr>
              <a:t>Large spectral databases (Open Specy, Spectragryph) and scripting flexibility (RamanSPy, hyperSpec) — BioRaman's built-in library is still partial.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FB6CF"/>
                </a:solidFill>
                <a:latin typeface="Calibri"/>
              </a:rPr>
              <a:t>Ratings are a best-effort reading of each tool's documentation and may change between releases.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